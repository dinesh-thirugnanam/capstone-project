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9w2bMOrv2qD2TVi0z4oqBQpAO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0E4294-235A-42A3-A1C0-67A024801B58}">
  <a:tblStyle styleId="{A80E4294-235A-42A3-A1C0-67A024801B5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 b="off" i="off"/>
      <a:tcStyle>
        <a:tcBdr/>
      </a:tcStyle>
    </a:band2H>
    <a:band1V>
      <a:tcTxStyle b="off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 b="off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FBCBC9E-C4D8-420E-A9E0-6C039990CA4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5FB0D09-FAB0-4BF0-8B13-E10DA568B42D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1" name="Google Shape;12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6" name="Google Shape;16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20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/>
          <p:cNvPicPr preferRelativeResize="0"/>
          <p:nvPr/>
        </p:nvPicPr>
        <p:blipFill rotWithShape="1">
          <a:blip r:embed="rId13">
            <a:alphaModFix/>
          </a:blip>
          <a:srcRect b="18045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4f1Ap-GmklNnOXniW3XcLkAzfeH1aRTf/view?usp=drive_lin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1FJch0xYYEZdWVmKbNKBk9zKtQZuvJ45I/view?usp=drive_link" TargetMode="External"/><Relationship Id="rId4" Type="http://schemas.openxmlformats.org/officeDocument/2006/relationships/hyperlink" Target="https://drive.google.com/file/d/1VzvQTzZj9oVOZu1KyzVL34DLjy4VV4yq/view?usp=drive_link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nesh-thirugnanam/capstone-projec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914400" y="1283491"/>
            <a:ext cx="10363200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GEOSYNC : Geolocation Based Attendance Tracking System </a:t>
            </a:r>
            <a:endParaRPr sz="2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553347" y="2321707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Batch Number: CCS-45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03855" y="2713259"/>
            <a:ext cx="5514300" cy="1431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1800" b="1" i="0" u="none" strike="noStrike" cap="non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 of,</a:t>
            </a:r>
            <a:endParaRPr sz="2000" b="1" i="0" u="none" strike="noStrike" cap="non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Ms. Sterlin Minish T N </a:t>
            </a:r>
            <a:endParaRPr sz="16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sz="1400" b="0" i="1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School of Computer Science and Engineering</a:t>
            </a:r>
            <a:endParaRPr sz="1400" b="0" i="1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400" b="0" i="1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sz="1400" b="0" i="1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657519" y="2854936"/>
          <a:ext cx="5418675" cy="1371640"/>
        </p:xfrm>
        <a:graphic>
          <a:graphicData uri="http://schemas.openxmlformats.org/drawingml/2006/table">
            <a:tbl>
              <a:tblPr firstRow="1" bandRow="1">
                <a:noFill/>
                <a:tableStyleId>{A80E4294-235A-42A3-A1C0-67A024801B58}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625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2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2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chemeClr val="lt2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20221CCS0142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Prem Singh B Rajput</a:t>
                      </a:r>
                      <a:endParaRPr sz="1600" b="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20221CCS0133</a:t>
                      </a:r>
                      <a:endParaRPr sz="1600" b="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Dinesh T</a:t>
                      </a:r>
                      <a:endParaRPr sz="1600" b="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6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20221CCS0117</a:t>
                      </a:r>
                      <a:endParaRPr sz="1600" b="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u="none" strike="noStrike" cap="non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Shaik Rida</a:t>
                      </a:r>
                      <a:endParaRPr sz="1600" b="0" u="none" strike="noStrike" cap="non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553347" y="71276"/>
            <a:ext cx="10847716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CSE7101- Capstone Project</a:t>
            </a:r>
            <a:endParaRPr sz="2400" b="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Final Review</a:t>
            </a:r>
            <a:endParaRPr sz="2000" b="1" i="0" u="none" strike="noStrike" cap="none" dirty="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399" y="4762430"/>
            <a:ext cx="10363201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			          :	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B.tech in Computer Science and Engineering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				          :	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Anandaraj S.P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Project Coordinator	          : 	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Sharmasth Vali</a:t>
            </a:r>
            <a:endParaRPr sz="18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Project Coordinators	          : 	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Sampath A K , Dr. Geetha A </a:t>
            </a:r>
            <a:endParaRPr sz="1800" b="1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Table of Content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10"/>
          <p:cNvSpPr txBox="1">
            <a:spLocks noGrp="1"/>
          </p:cNvSpPr>
          <p:nvPr>
            <p:ph type="body" idx="1"/>
          </p:nvPr>
        </p:nvSpPr>
        <p:spPr>
          <a:xfrm>
            <a:off x="683214" y="1118801"/>
            <a:ext cx="10668000" cy="4696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Proposed Method &amp; Feasibility Study 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Architecture Diagram 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Modules 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Module Development 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Algorithm Details 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Hardware and Software details 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Timeline ( Gantt Chart)</a:t>
            </a:r>
            <a:endParaRPr/>
          </a:p>
          <a:p>
            <a:pPr marL="4953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Arial"/>
              <a:buChar char="•"/>
            </a:pPr>
            <a:r>
              <a:rPr lang="en-US" sz="1700">
                <a:latin typeface="Cambria"/>
                <a:ea typeface="Cambria"/>
                <a:cs typeface="Cambria"/>
                <a:sym typeface="Cambria"/>
              </a:rPr>
              <a:t>References </a:t>
            </a:r>
            <a:endParaRPr/>
          </a:p>
          <a:p>
            <a:pPr marL="4953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Noto Sans Symbols"/>
              <a:buNone/>
            </a:pP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marL="4953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Noto Sans Symbols"/>
              <a:buNone/>
            </a:pPr>
            <a:endParaRPr sz="1700">
              <a:latin typeface="Cambria"/>
              <a:ea typeface="Cambria"/>
              <a:cs typeface="Cambria"/>
              <a:sym typeface="Cambria"/>
            </a:endParaRPr>
          </a:p>
          <a:p>
            <a:pPr marL="4953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29"/>
              <a:buFont typeface="Noto Sans Symbols"/>
              <a:buNone/>
            </a:pPr>
            <a:endParaRPr sz="17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Problem Statement Number: PSCS-337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b="1">
                <a:latin typeface="Cambria"/>
                <a:ea typeface="Cambria"/>
                <a:cs typeface="Cambria"/>
                <a:sym typeface="Cambria"/>
              </a:rPr>
              <a:t>Organization	       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:   	Presidency University </a:t>
            </a:r>
            <a:endParaRPr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b="1">
                <a:latin typeface="Cambria"/>
                <a:ea typeface="Cambria"/>
                <a:cs typeface="Cambria"/>
                <a:sym typeface="Cambria"/>
              </a:rPr>
              <a:t>Category 	        :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 	Software</a:t>
            </a:r>
            <a:endParaRPr/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b="1">
                <a:latin typeface="Cambria"/>
                <a:ea typeface="Cambria"/>
                <a:cs typeface="Cambria"/>
                <a:sym typeface="Cambria"/>
              </a:rPr>
              <a:t>Problem Description  </a:t>
            </a: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:</a:t>
            </a:r>
            <a:endParaRPr/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>
                <a:latin typeface="Cambria"/>
                <a:ea typeface="Cambria"/>
                <a:cs typeface="Cambria"/>
                <a:sym typeface="Cambria"/>
              </a:rPr>
              <a:t>This capstone project develops a mobile-based Geolocation Attendance Tracking System for organizations with fixed and remote work locations. Using geofencing and GPS technology, the system automates employee check-ins and check-outs within a 200-meter radius of office locations, while supporting manual check-ins for offsite and field work. Attendance records are securely stored in the cloud, leveraging open-source, free-tier infrastructure, with offline functionality and tamper-proof verification to ensure data reliability. Designed as a Native App , the solution offers cost-effective workforce management, accessible on any modern smartphone, helping organizations streamline payroll, improve data accuracy, and support flexible work models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Abstract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>
            <a:off x="812800" y="3706553"/>
            <a:ext cx="10668000" cy="1953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1800" b="1"/>
              <a:t>Smart geofencing:</a:t>
            </a:r>
            <a:r>
              <a:rPr lang="en-US" sz="1800"/>
              <a:t> Accurate check-in/out as employees enter or exit designated office boundaries.capstone-project-document-1.docx</a:t>
            </a:r>
            <a:endParaRPr/>
          </a:p>
          <a:p>
            <a:pPr marL="457200" lvl="0" indent="-3810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1800" b="1"/>
              <a:t>Manual remote tracking:</a:t>
            </a:r>
            <a:r>
              <a:rPr lang="en-US" sz="1800"/>
              <a:t> Reliable attendance for offsite tasks with location verification.capstone-project-document-1.docx</a:t>
            </a:r>
            <a:endParaRPr/>
          </a:p>
          <a:p>
            <a:pPr marL="457200" lvl="0" indent="-3810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1800" b="1"/>
              <a:t>Secure, cloud-based records:</a:t>
            </a:r>
            <a:r>
              <a:rPr lang="en-US" sz="1800"/>
              <a:t> Tamper-proof data, offline synchronization, and real-time access.</a:t>
            </a:r>
            <a:endParaRPr/>
          </a:p>
        </p:txBody>
      </p:sp>
      <p:sp>
        <p:nvSpPr>
          <p:cNvPr id="111" name="Google Shape;111;p26"/>
          <p:cNvSpPr txBox="1"/>
          <p:nvPr/>
        </p:nvSpPr>
        <p:spPr>
          <a:xfrm>
            <a:off x="762000" y="945018"/>
            <a:ext cx="10668000" cy="175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project introduces a Geolocation-Based Attendance Tracking Mobile Application that automates and secures employee attendance for both on-site and remote work scenarios. By leveraging geofencing and manual check-in features, the app records attendance seamlessly for multiple work environments. All data is securely stored with tamper-proof mechanisms, cloud backup, and offline support to ensure reliability and operational continuity. Tailored for SMEs and distributed teams, the solution is platform-independent, scalable, and cost-effective, eliminating manual errors and reducing administrative workload</a:t>
            </a:r>
            <a:endParaRPr sz="20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Comprehensive 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27"/>
          <p:cNvSpPr txBox="1">
            <a:spLocks noGrp="1"/>
          </p:cNvSpPr>
          <p:nvPr>
            <p:ph type="body" idx="1"/>
          </p:nvPr>
        </p:nvSpPr>
        <p:spPr>
          <a:xfrm>
            <a:off x="762000" y="3008423"/>
            <a:ext cx="10668000" cy="265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GPS and geofencing 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systems streamline attendance by leveraging mobile devices' location data, improving accuracy and reducing reliance on legacy systems.</a:t>
            </a:r>
            <a:endParaRPr sz="1600" i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RFID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 and </a:t>
            </a: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cloud-enabled platforms 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offer real-time spatial visualization and secure data storage but may require substantial hardware investment.</a:t>
            </a:r>
            <a:endParaRPr sz="1800" i="1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Facial recognition 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solutions embedded with </a:t>
            </a:r>
            <a:r>
              <a:rPr lang="en-US" sz="1800" b="1">
                <a:latin typeface="Cambria"/>
                <a:ea typeface="Cambria"/>
                <a:cs typeface="Cambria"/>
                <a:sym typeface="Cambria"/>
              </a:rPr>
              <a:t>GIS mapping </a:t>
            </a: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improve data integrity and administrative efficiency achieving high scores in usability and portability.</a:t>
            </a:r>
            <a:endParaRPr/>
          </a:p>
        </p:txBody>
      </p:sp>
      <p:sp>
        <p:nvSpPr>
          <p:cNvPr id="118" name="Google Shape;118;p27"/>
          <p:cNvSpPr txBox="1"/>
          <p:nvPr/>
        </p:nvSpPr>
        <p:spPr>
          <a:xfrm>
            <a:off x="762000" y="945018"/>
            <a:ext cx="10668000" cy="175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marR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Numerous studies have explored automated attendance management using geolocation, RFID, GPS, smartphone apps, and facial recognition. Solutions like geofencing and GPS-based mobile applications enable real-time attendance marking and verification within defined boundaries, minimizing manual errors and fraudulent check-ins. RFID-based systems combine physical tags with geospatial visualization for secure, location-aware tracking, while approaches using facial/GIS integration further enhance authentication.</a:t>
            </a:r>
            <a:endParaRPr sz="20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Critical Analysis</a:t>
            </a:r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body" idx="1"/>
          </p:nvPr>
        </p:nvSpPr>
        <p:spPr>
          <a:xfrm>
            <a:off x="762000" y="1365689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032"/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Benefits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40762"/>
              <a:buNone/>
            </a:pPr>
            <a:r>
              <a:rPr lang="en-US" sz="2200">
                <a:latin typeface="Cambria"/>
                <a:ea typeface="Cambria"/>
                <a:cs typeface="Cambria"/>
                <a:sym typeface="Cambria"/>
              </a:rPr>
              <a:t>Most systems present robust solutions for automating and verifying attendance, reducing manual workload, improving security, and supporting comprehensive reporting with features like real-time tracking and offline support.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40762"/>
              <a:buNone/>
            </a:pPr>
            <a:endParaRPr sz="2200" b="1">
              <a:latin typeface="Cambria"/>
              <a:ea typeface="Cambria"/>
              <a:cs typeface="Cambria"/>
              <a:sym typeface="Cambria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032"/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Limitations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40762"/>
              <a:buNone/>
            </a:pPr>
            <a:r>
              <a:rPr lang="en-US" sz="2200">
                <a:latin typeface="Cambria"/>
                <a:ea typeface="Cambria"/>
                <a:cs typeface="Cambria"/>
                <a:sym typeface="Cambria"/>
              </a:rPr>
              <a:t>Many approaches face challenges related to hardware dependency (RFID, biometric devices), potential for GPS spoofing, high computational cost (facial recognition), and need for strong privacy/authentication mechanisms.</a:t>
            </a:r>
            <a:endParaRPr/>
          </a:p>
          <a:p>
            <a:pPr marL="76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40762"/>
              <a:buNone/>
            </a:pPr>
            <a:endParaRPr sz="2200">
              <a:latin typeface="Cambria"/>
              <a:ea typeface="Cambria"/>
              <a:cs typeface="Cambria"/>
              <a:sym typeface="Cambria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032"/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Alignment with our Project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032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The reviewed papers validate the feasibility and effectiveness of your geofencing mobile approach for SMEs by illustrating successful adoption in similar environments and technologies. Integration of security, cloud/offline functions, and scalable design are consistent with current best practices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812800" y="23806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Implement a geofencing module to automatically record check-in and check-out events based on a user’s entry/exit from a predefined work location.</a:t>
            </a:r>
            <a:endParaRPr/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Provide a secure manual check-in system for off-site and remote work, capturing the user's GPS coordinates for location verification.</a:t>
            </a:r>
            <a:endParaRPr/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Build a secure backend and database to ensure all attendance events are stored tamper-proof, modifiable only by legitimate application processes.</a:t>
            </a:r>
            <a:endParaRPr/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Design an intuitive user interface for employees to view attendance history and enable administrators to manage user accounts and work locations.</a:t>
            </a:r>
            <a:endParaRPr/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1800">
                <a:latin typeface="Cambria"/>
                <a:ea typeface="Cambria"/>
                <a:cs typeface="Cambria"/>
                <a:sym typeface="Cambria"/>
              </a:rPr>
              <a:t>Enable seamless system performance during intermittent connectivity by supporting offline synchronization—data is stored locally and uploaded to the server when online access is restored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762000" y="945018"/>
            <a:ext cx="10668000" cy="175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main objectives are to automate and secure employee attendance tracking using geolocation, delivering reliable and tamper-proof records for both onsite and remote work. The system prioritizes ease of use, scalability, and accurate data management to suit modern workplace needs 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Proposed Method</a:t>
            </a:r>
            <a:endParaRPr/>
          </a:p>
        </p:txBody>
      </p:sp>
      <p:sp>
        <p:nvSpPr>
          <p:cNvPr id="137" name="Google Shape;137;p29"/>
          <p:cNvSpPr txBox="1"/>
          <p:nvPr/>
        </p:nvSpPr>
        <p:spPr>
          <a:xfrm>
            <a:off x="762000" y="1027314"/>
            <a:ext cx="10668000" cy="4989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 a 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Geolocation-Based Attendance Tracking Module 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 flexible workforce attendance management.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Core feature: 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Geofencing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with 200-meter virtual boundaries around work locations to automate check-ins/check-outs via employee smartphones.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Supports 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manual check-in/out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for remote/offsite workers with GPS location verification and intelligent location suggestions.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Utilizes 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offline-first capabilities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to store data locally and synchronize with cloud backend when online.</a:t>
            </a:r>
            <a:endParaRPr/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Secure backend stores </a:t>
            </a:r>
            <a:r>
              <a:rPr lang="en-US" sz="18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tamper-proof attendance logs</a:t>
            </a: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 with real-time access for administrators.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Responsive, cross-platform PWA accessible on any modern smartphone without app installation.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User-friendly interface for employees to track attendance and administrators to manage locations, users, and reports.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Feasibility Study</a:t>
            </a:r>
            <a:endParaRPr/>
          </a:p>
        </p:txBody>
      </p:sp>
      <p:sp>
        <p:nvSpPr>
          <p:cNvPr id="143" name="Google Shape;143;p30"/>
          <p:cNvSpPr txBox="1"/>
          <p:nvPr/>
        </p:nvSpPr>
        <p:spPr>
          <a:xfrm>
            <a:off x="812800" y="1045602"/>
            <a:ext cx="10668000" cy="462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Technical Feasibility:</a:t>
            </a:r>
            <a:endParaRPr sz="20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8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Uses mature technologies: React Native, Node.js, PostgreSQL, Supabase, Google Maps APIs.</a:t>
            </a:r>
            <a:endParaRPr/>
          </a:p>
          <a:p>
            <a:pPr marL="342900" marR="0" lvl="5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Our module ensures platform independence and offline functionality.</a:t>
            </a:r>
            <a:endParaRPr/>
          </a:p>
          <a:p>
            <a:pPr marL="342900" marR="0" lvl="5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Scalable cloud infrastructure with secure data handling.</a:t>
            </a:r>
            <a:endParaRPr/>
          </a:p>
          <a:p>
            <a:pPr marL="342900" marR="0" lvl="5" indent="-222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Economic Feasibility:</a:t>
            </a:r>
            <a:endParaRPr sz="20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 proprietary hardware; BYOD (Bring Your Own Device) reduces costs.</a:t>
            </a:r>
            <a:endParaRPr/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Cloud pay-as-you-go model minimizes upfront investment.</a:t>
            </a:r>
            <a:endParaRPr/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Suitable for SMEs, startups, and distributed teams.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Operational Feasibility:</a:t>
            </a:r>
            <a:endParaRPr sz="20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Aligns with modern work trends: onsite, remote &amp; hybrid.</a:t>
            </a:r>
            <a:endParaRPr/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Automates attendance, reducing HR workload and errors.</a:t>
            </a:r>
            <a:endParaRPr/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Enhances payroll accuracy and employee trust through verifiable data.</a:t>
            </a:r>
            <a:endParaRPr/>
          </a:p>
          <a:p>
            <a:pPr marL="3429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Easy deployment and user adoption via browser-based access.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System Modules and Key Functionalities</a:t>
            </a:r>
            <a:endParaRPr/>
          </a:p>
        </p:txBody>
      </p:sp>
      <p:sp>
        <p:nvSpPr>
          <p:cNvPr id="149" name="Google Shape;149;p31"/>
          <p:cNvSpPr txBox="1"/>
          <p:nvPr/>
        </p:nvSpPr>
        <p:spPr>
          <a:xfrm>
            <a:off x="762000" y="945018"/>
            <a:ext cx="10668000" cy="492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User Authentication Module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Secure login/signup for employees and administrators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Role-based access control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Password encryption and session management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Geofencing &amp; Location Verification Module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Define virtual boundaries (geofences) around work locations (200m radius)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Automatically detect employee entry and exit within geofence using GPS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Manual check-in/out for remote/offsite employees with GPS verification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Attendance Management Module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Automated recording of check-in and check-out timestamps paired with location data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 for multiple entries and exits in a single day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Tamper-proof attendance logs securely stored in cloud database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Offline attendance capturing and synchronization on connectivity restoration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Reporting and Analytics Module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 comprehensive attendance summaries and reports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Track compliance with attendance policies in real-time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Exportable data for payroll and performance evaluations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/>
              <a:t>Architecture Diagram-(links)</a:t>
            </a:r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762000" y="111556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System Architecture (In Detail) 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https://drive.google.com/file/d/14f1Ap-GmklNnOXniW3XcLkAzfeH1aRTf/view?usp=drive_link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						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High Level Architecture 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https://drive.google.com/file/d/1VzvQTzZj9oVOZu1KyzVL34DLjy4VV4yq/view?usp=drive_link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									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Component Architecture 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5"/>
              </a:rPr>
              <a:t>https://drive.google.com/file/d/1FJch0xYYEZdWVmKbNKBk9zKtQZuvJ45I/view?usp=drive_link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			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title"/>
          </p:nvPr>
        </p:nvSpPr>
        <p:spPr>
          <a:xfrm>
            <a:off x="650754" y="27495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Analysis of Problem Statement 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(Technology Stack Components)</a:t>
            </a:r>
            <a:endParaRPr/>
          </a:p>
        </p:txBody>
      </p:sp>
      <p:sp>
        <p:nvSpPr>
          <p:cNvPr id="161" name="Google Shape;161;p6"/>
          <p:cNvSpPr txBox="1">
            <a:spLocks noGrp="1"/>
          </p:cNvSpPr>
          <p:nvPr>
            <p:ph type="body" idx="1"/>
          </p:nvPr>
        </p:nvSpPr>
        <p:spPr>
          <a:xfrm>
            <a:off x="495558" y="1111189"/>
            <a:ext cx="10985241" cy="90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   To address the misalignment between traditional attendance systems and modern, flexible workforce needs, this project leverages a specialized technology stack that enables geolocation-driven, automated, and secure attendance tracking:</a:t>
            </a:r>
            <a:endParaRPr/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62" name="Google Shape;162;p6"/>
          <p:cNvGraphicFramePr/>
          <p:nvPr/>
        </p:nvGraphicFramePr>
        <p:xfrm>
          <a:off x="1983965" y="2230015"/>
          <a:ext cx="8325650" cy="3772800"/>
        </p:xfrm>
        <a:graphic>
          <a:graphicData uri="http://schemas.openxmlformats.org/drawingml/2006/table">
            <a:tbl>
              <a:tblPr>
                <a:noFill/>
                <a:tableStyleId>{FFBCBC9E-C4D8-420E-A9E0-6C039990CA4A}</a:tableStyleId>
              </a:tblPr>
              <a:tblGrid>
                <a:gridCol w="416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9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Category</a:t>
                      </a:r>
                      <a:endParaRPr sz="20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Technology</a:t>
                      </a:r>
                      <a:endParaRPr sz="24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Frontend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 Native + Expo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Node.js + Express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+ Prisma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Infrastructure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Supabase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State Management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Zustand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Navigation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 Navigation v6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UI Components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NativeBase or Tamagui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Maps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react-native-maps + Google Maps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Location Services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expo-location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Offline Storage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AsyncStorage + React Query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 (mobile) + Vercel (API)</a:t>
                      </a:r>
                      <a:endParaRPr sz="2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9250" marR="49250" marT="49250" marB="4925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3" name="Google Shape;163;p6"/>
          <p:cNvSpPr/>
          <p:nvPr/>
        </p:nvSpPr>
        <p:spPr>
          <a:xfrm>
            <a:off x="4081463" y="97155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>
            <a:spLocks noGrp="1"/>
          </p:cNvSpPr>
          <p:nvPr>
            <p:ph type="title"/>
          </p:nvPr>
        </p:nvSpPr>
        <p:spPr>
          <a:xfrm>
            <a:off x="560872" y="31011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3200">
                <a:latin typeface="Cambria"/>
                <a:ea typeface="Cambria"/>
                <a:cs typeface="Cambria"/>
                <a:sym typeface="Cambria"/>
              </a:rPr>
              <a:t>Module Development </a:t>
            </a:r>
            <a:endParaRPr sz="3600"/>
          </a:p>
        </p:txBody>
      </p:sp>
      <p:sp>
        <p:nvSpPr>
          <p:cNvPr id="169" name="Google Shape;169;p33"/>
          <p:cNvSpPr txBox="1">
            <a:spLocks noGrp="1"/>
          </p:cNvSpPr>
          <p:nvPr>
            <p:ph type="body" idx="1"/>
          </p:nvPr>
        </p:nvSpPr>
        <p:spPr>
          <a:xfrm>
            <a:off x="692503" y="971550"/>
            <a:ext cx="10985241" cy="509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b="1">
                <a:latin typeface="Cambria"/>
                <a:ea typeface="Cambria"/>
                <a:cs typeface="Cambria"/>
                <a:sym typeface="Cambria"/>
              </a:rPr>
              <a:t>System divided into modular components for scalability and maintainability.	</a:t>
            </a:r>
            <a:endParaRPr sz="2000" b="1">
              <a:latin typeface="Cambria"/>
              <a:ea typeface="Cambria"/>
              <a:cs typeface="Cambria"/>
              <a:sym typeface="Cambria"/>
            </a:endParaRPr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- Mobile App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(React Native) 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Includes features for both admin (workplace setup, user mgmt.) and employee (login, check-in, history).								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- Core APIs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 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Handle geolocation, authentication, attendance, and user management on the backend.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- Business logic modules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 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automate report generation, distance checks, and attendance validation.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- Notification &amp; Scheduling Services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 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Manage alerts and automated attendance tasks.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0" name="Google Shape;170;p33"/>
          <p:cNvSpPr/>
          <p:nvPr/>
        </p:nvSpPr>
        <p:spPr>
          <a:xfrm>
            <a:off x="4081463" y="97155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"/>
          <p:cNvSpPr txBox="1">
            <a:spLocks noGrp="1"/>
          </p:cNvSpPr>
          <p:nvPr>
            <p:ph type="title"/>
          </p:nvPr>
        </p:nvSpPr>
        <p:spPr>
          <a:xfrm>
            <a:off x="604454" y="274500"/>
            <a:ext cx="13597681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Algorithm Details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7"/>
          <p:cNvSpPr txBox="1">
            <a:spLocks noGrp="1"/>
          </p:cNvSpPr>
          <p:nvPr>
            <p:ph type="body" idx="1"/>
          </p:nvPr>
        </p:nvSpPr>
        <p:spPr>
          <a:xfrm>
            <a:off x="762000" y="1115568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Authentication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Secure user verification using bcrypt hashing and JWT tokens.	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Geospatial Processing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Fast location validation using MongoDB geospatial indexing and the Haversine formula for precise distance calculations.								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Geofencing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Dynamic boundary detection; confirms user presence within defined zones for attendance eligibility.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Attendance Validation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Automated checks for shift times, location, and anomaly detection to prevent fraudulent check-ins.	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 b="1">
                <a:latin typeface="Cambria"/>
                <a:ea typeface="Cambria"/>
                <a:cs typeface="Cambria"/>
                <a:sym typeface="Cambria"/>
              </a:rPr>
              <a:t>Reporting &amp; Automation</a:t>
            </a: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: </a:t>
            </a:r>
            <a:endParaRPr/>
          </a:p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29729"/>
              <a:buNone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Aggregates attendance data; triggers notifications and compiles real-time reports for administrators.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Github Link</a:t>
            </a:r>
            <a:endParaRPr/>
          </a:p>
        </p:txBody>
      </p:sp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Github link provided should have public access permission.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53734"/>
                </a:solidFill>
                <a:latin typeface="Cambria"/>
                <a:ea typeface="Cambria"/>
                <a:cs typeface="Cambria"/>
                <a:sym typeface="Cambria"/>
              </a:rPr>
              <a:t>Github Link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sng" strike="noStrike" cap="none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https://github.com/dinesh-thirugnanam/capstone-project</a:t>
            </a: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Timeline of the Project (Gantt Chart)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90" name="Google Shape;190;p11"/>
          <p:cNvGraphicFramePr/>
          <p:nvPr/>
        </p:nvGraphicFramePr>
        <p:xfrm>
          <a:off x="950975" y="1865236"/>
          <a:ext cx="10529825" cy="3840750"/>
        </p:xfrm>
        <a:graphic>
          <a:graphicData uri="http://schemas.openxmlformats.org/drawingml/2006/table">
            <a:tbl>
              <a:tblPr firstRow="1" bandRow="1">
                <a:noFill/>
                <a:tableStyleId>{75FB0D09-FAB0-4BF0-8B13-E10DA568B42D}</a:tableStyleId>
              </a:tblPr>
              <a:tblGrid>
                <a:gridCol w="214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5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x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 August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Month 1 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September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Month 2</a:t>
                      </a:r>
                      <a:endParaRPr sz="1400" i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October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Month 3 </a:t>
                      </a:r>
                      <a:endParaRPr sz="1400" i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November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chemeClr val="dk1"/>
                          </a:solidFill>
                        </a:rPr>
                        <a:t>Month 4 </a:t>
                      </a:r>
                      <a:endParaRPr sz="1400" i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17365D"/>
                          </a:solidFill>
                        </a:rPr>
                        <a:t>Phase 1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7365D"/>
                          </a:solidFill>
                        </a:rPr>
                        <a:t>Planning &amp; Design</a:t>
                      </a:r>
                      <a:endParaRPr sz="1400" b="1" i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494429"/>
                          </a:solidFill>
                        </a:rPr>
                        <a:t>Phase 2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494429"/>
                          </a:solidFill>
                        </a:rPr>
                        <a:t>Core Development </a:t>
                      </a:r>
                      <a:endParaRPr sz="1400" b="1" i="1" u="none" strike="noStrike" cap="none">
                        <a:solidFill>
                          <a:srgbClr val="494429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953734"/>
                          </a:solidFill>
                        </a:rPr>
                        <a:t>Phase 3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953734"/>
                          </a:solidFill>
                        </a:rPr>
                        <a:t>Feature Integration</a:t>
                      </a:r>
                      <a:endParaRPr sz="1400" b="1" i="1" u="none" strike="noStrike" cap="none">
                        <a:solidFill>
                          <a:srgbClr val="953734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5F497A"/>
                          </a:solidFill>
                        </a:rPr>
                        <a:t>Phase 4 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5F497A"/>
                          </a:solidFill>
                        </a:rPr>
                        <a:t>Testing &amp; Deployment</a:t>
                      </a:r>
                      <a:endParaRPr sz="1400" b="1" i="1" u="none" strike="noStrike" cap="none">
                        <a:solidFill>
                          <a:srgbClr val="5F497A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Google Shape;191;p11"/>
          <p:cNvSpPr/>
          <p:nvPr/>
        </p:nvSpPr>
        <p:spPr>
          <a:xfrm>
            <a:off x="3099816" y="3100832"/>
            <a:ext cx="2180844" cy="2103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833620" y="2834640"/>
            <a:ext cx="153416" cy="266192"/>
          </a:xfrm>
          <a:prstGeom prst="downArrow">
            <a:avLst>
              <a:gd name="adj1" fmla="val 50000"/>
              <a:gd name="adj2" fmla="val 107522"/>
            </a:avLst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906264" y="3803396"/>
            <a:ext cx="3208020" cy="2103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913882" y="3534497"/>
            <a:ext cx="153416" cy="266192"/>
          </a:xfrm>
          <a:prstGeom prst="downArrow">
            <a:avLst>
              <a:gd name="adj1" fmla="val 50000"/>
              <a:gd name="adj2" fmla="val 107522"/>
            </a:avLst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5485893" y="3591657"/>
            <a:ext cx="14965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29-09-25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[Review 2]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3409696" y="2889758"/>
            <a:ext cx="14965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20-08-25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[Review 1]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990590" y="4588580"/>
            <a:ext cx="2043682" cy="2103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7329935" y="4353722"/>
            <a:ext cx="14965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28-10-25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[Review 3]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749795" y="4330850"/>
            <a:ext cx="153416" cy="266192"/>
          </a:xfrm>
          <a:prstGeom prst="downArrow">
            <a:avLst>
              <a:gd name="adj1" fmla="val 50000"/>
              <a:gd name="adj2" fmla="val 107522"/>
            </a:avLst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868158" y="5334822"/>
            <a:ext cx="2525266" cy="2103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1"/>
          <p:cNvSpPr txBox="1"/>
          <p:nvPr/>
        </p:nvSpPr>
        <p:spPr>
          <a:xfrm>
            <a:off x="9744457" y="5073212"/>
            <a:ext cx="149656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21-11-25</a:t>
            </a:r>
            <a:r>
              <a:rPr lang="en-US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[Review 4]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1163809" y="5068630"/>
            <a:ext cx="153416" cy="266192"/>
          </a:xfrm>
          <a:prstGeom prst="downArrow">
            <a:avLst>
              <a:gd name="adj1" fmla="val 50000"/>
              <a:gd name="adj2" fmla="val 107522"/>
            </a:avLst>
          </a:prstGeom>
          <a:gradFill>
            <a:gsLst>
              <a:gs pos="0">
                <a:srgbClr val="D13F3B"/>
              </a:gs>
              <a:gs pos="100000">
                <a:srgbClr val="FF9995"/>
              </a:gs>
            </a:gsLst>
            <a:lin ang="16200000" scaled="0"/>
          </a:gradFill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11"/>
          <p:cNvCxnSpPr/>
          <p:nvPr/>
        </p:nvCxnSpPr>
        <p:spPr>
          <a:xfrm rot="10800000">
            <a:off x="4906264" y="3311144"/>
            <a:ext cx="0" cy="492252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11"/>
          <p:cNvCxnSpPr>
            <a:stCxn id="197" idx="1"/>
          </p:cNvCxnSpPr>
          <p:nvPr/>
        </p:nvCxnSpPr>
        <p:spPr>
          <a:xfrm rot="10800000">
            <a:off x="6982490" y="4013636"/>
            <a:ext cx="8100" cy="6801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1"/>
          <p:cNvCxnSpPr/>
          <p:nvPr/>
        </p:nvCxnSpPr>
        <p:spPr>
          <a:xfrm rot="10800000">
            <a:off x="8851900" y="4795411"/>
            <a:ext cx="8129" cy="680028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References (IEEE Paper format)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1" name="Google Shape;211;p1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M. Buvana, A. S., V. Dhivya, M. Gokilavani, and M. Kiruthiga, "Smart Geolocation-Based Attendance Monitoring and Reporting Platform,"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International Journal of Scientific Research in Engineering and Management (IJSREM)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09, no. 05, May 2025.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D. C., R. Ambika, V. Kankani, P. Pragnya, and A. Patil, "Design and Development of Geofencing Based Attendance System,"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International Journal of Advanced Research in Computer and Communication Engineering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7, no. 6, June 2018.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S. Mane, N. Gandhi, A. Bharambe, M. Gawade, and S. Bhanwase, "Geofencing Based Attendance Tracking and Monitoring System,"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International Journal of Advanced Research in Science, Communication and Technology (IJARSCT)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5, no. 10, May 2025.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I. O. Eweoya et al., "Design and Implementation of a University Attendance Management System Using Geo-Fencing,"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Asian Journal of Computer Science and Technology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14, no. 1, pp. 28-46, 2025.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J. C. Bati-On, K. P. Kuizon, K. A. Y. Catulpos, J. B. Bonghanoy, and J. Jr. Costillas Agoylo, "Automated Attendance Management With RFID And Geospatial Visualization,"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Journal of Engineering Research and Reviews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2, no. 2, pp. 127-141, 2025.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S. Pagare, P. Shardul, N. Thakur, S. Jadhav, and S. Malve, "Geospatial Attendance Tracking: Leveraging Location Based Technology,"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International Journal of Advanced Research in Science, Communication and Technology (IJARSCT)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4, no. 3, Feb. 2024.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I. G. R. Bisnar et al., "Design and Implementation of an Integrated Teacher Management System Utilizing Facial Recognition and GIS-Based Location Tracking,"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Scientific Journal of Computer Science and Informatics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2, no. 4, pp. 213-221, Aug. 2025.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K. A. Yousif Yaseen, "Digital education: The cybersecurity challenges in the online classroom (2019-2020),"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Asian Journal of Computer Science and Technology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vol. 11, no. 2, pp. 33-38, Dec. 2022.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G. P. Zhang, “Research on the management system of University Students,” Northeast Normal University, China, pp. 17-19.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B. N. Gatsheni, R. B. Kuriakose, and F. Aghdasi, "Automating a student class attendance register using radio frequency identification in South Africa,"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2007 IEEE International Conference on Mechatronics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Kumamoto, pp. 1-5.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Z. Zhang, P. Gong, L. Cao, and Y. Chen, "Design and Implementation of Educational Administration Attendance Management System Based on B/S and C/S,"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2007 First IEEE International Symposium on Information Technologies and Applications in Education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Kunming, pp. 606-609, 2007.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B. K. P. Mohamed and C. V. Raghu, "Fingerprint attendance system for classroom needs,"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2012 Annual IEEE India Conference (INDICON)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Kochi, pp. 433-438, 2012.</a:t>
            </a:r>
            <a:endParaRPr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M. Strommer et al., “Smart NFC Interface Platform and its Applications,” in T. Tuikka and M. Isomursu, (Eds.), </a:t>
            </a:r>
            <a:r>
              <a:rPr lang="en-US" sz="1100" i="1">
                <a:latin typeface="Cambria"/>
                <a:ea typeface="Cambria"/>
                <a:cs typeface="Cambria"/>
                <a:sym typeface="Cambria"/>
              </a:rPr>
              <a:t>Touch the Future with a Smart Touch</a:t>
            </a:r>
            <a:r>
              <a:rPr lang="en-US" sz="1100">
                <a:latin typeface="Cambria"/>
                <a:ea typeface="Cambria"/>
                <a:cs typeface="Cambria"/>
                <a:sym typeface="Cambria"/>
              </a:rPr>
              <a:t>, 2009.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2811" y="1441315"/>
            <a:ext cx="3893305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Microsoft Office PowerPoint</Application>
  <PresentationFormat>Widescreen</PresentationFormat>
  <Paragraphs>224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Cambria</vt:lpstr>
      <vt:lpstr>Noto Sans Symbols</vt:lpstr>
      <vt:lpstr>Verdana</vt:lpstr>
      <vt:lpstr>Bioinformatics</vt:lpstr>
      <vt:lpstr>GEOSYNC : Geolocation Based Attendance Tracking System </vt:lpstr>
      <vt:lpstr>Table of Content</vt:lpstr>
      <vt:lpstr>Problem Statement Number: PSCS-337</vt:lpstr>
      <vt:lpstr>Abstract</vt:lpstr>
      <vt:lpstr>Comprehensive Literature Review</vt:lpstr>
      <vt:lpstr>Critical Analysis</vt:lpstr>
      <vt:lpstr>Objectives</vt:lpstr>
      <vt:lpstr>Proposed Method</vt:lpstr>
      <vt:lpstr>Feasibility Study</vt:lpstr>
      <vt:lpstr>System Modules and Key Functionalities</vt:lpstr>
      <vt:lpstr>Architecture Diagram-(links)</vt:lpstr>
      <vt:lpstr>Analysis of Problem Statement (Technology Stack Components)</vt:lpstr>
      <vt:lpstr>Module Development </vt:lpstr>
      <vt:lpstr>Algorithm Details 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Prem Singh</cp:lastModifiedBy>
  <cp:revision>1</cp:revision>
  <dcterms:modified xsi:type="dcterms:W3CDTF">2025-12-01T14:34:27Z</dcterms:modified>
</cp:coreProperties>
</file>